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handoutMasterIdLst>
    <p:handoutMasterId r:id="rId14"/>
  </p:handoutMasterIdLst>
  <p:sldIdLst>
    <p:sldId id="256" r:id="rId2"/>
    <p:sldId id="1135" r:id="rId3"/>
    <p:sldId id="1142" r:id="rId4"/>
    <p:sldId id="1144" r:id="rId5"/>
    <p:sldId id="1150" r:id="rId6"/>
    <p:sldId id="1152" r:id="rId7"/>
    <p:sldId id="1151" r:id="rId8"/>
    <p:sldId id="1147" r:id="rId9"/>
    <p:sldId id="1153" r:id="rId10"/>
    <p:sldId id="1148" r:id="rId11"/>
    <p:sldId id="1154" r:id="rId1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2"/>
            <p14:sldId id="1144"/>
            <p14:sldId id="1150"/>
            <p14:sldId id="1152"/>
            <p14:sldId id="1151"/>
            <p14:sldId id="1147"/>
            <p14:sldId id="1153"/>
            <p14:sldId id="1148"/>
            <p14:sldId id="115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7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A deep dive on </a:t>
            </a:r>
            <a:r>
              <a:rPr lang="en-US" altLang="ko-KR" sz="4400" dirty="0" err="1">
                <a:solidFill>
                  <a:schemeClr val="bg1"/>
                </a:solidFill>
              </a:rPr>
              <a:t>Keras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479265" y="1795668"/>
            <a:ext cx="11233469" cy="389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different ways to create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models: the Sequential class, the Functional API, and model subclassing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How to use the built-in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training and evaluation loops, including how to use custom metrics and custom losses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callbacks to further customize how training proceeds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</a:t>
            </a:r>
            <a:r>
              <a:rPr lang="en-US" altLang="ko-KR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TensorBoard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for monitoring your training and evaluation metrics over time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How to write your own training and evaluation loops from scratch</a:t>
            </a:r>
            <a:endParaRPr lang="en-US" altLang="ko-KR" sz="20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A443F0-E912-1108-17B8-FEAA865DA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 spectrum of workflows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66737" y="1515027"/>
            <a:ext cx="11058525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모든 워크플로가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공유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기반으로 작동 즉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초보자가 쓰는 레고 블록과 전문가가 직접 깎아 만든 레고 블록의 규격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돌기 모양과 크기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완전히 동일함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사용하는 것처럼 단순히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fit()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호출하고 프레임워크가 알아서 하도록 둘 수도 있고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NumPy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사용하는 것처럼 모든 세부 사항을 완전히 제어할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122F-979A-FBE4-1273-A89F9120E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C3C76-D244-006B-FA7B-A81F44A46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261F17-C13B-BF51-E513-08DC798AD2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Different ways to build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en-US" altLang="ko-KR" sz="2800" b="1" cap="none" dirty="0">
                <a:latin typeface="Lora" pitchFamily="2" charset="0"/>
              </a:rPr>
              <a:t> models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7B49FDF4-1CF2-7683-F382-9F51AFCBB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850307"/>
              </p:ext>
            </p:extLst>
          </p:nvPr>
        </p:nvGraphicFramePr>
        <p:xfrm>
          <a:off x="671211" y="2453751"/>
          <a:ext cx="10677625" cy="35825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5810">
                  <a:extLst>
                    <a:ext uri="{9D8B030D-6E8A-4147-A177-3AD203B41FA5}">
                      <a16:colId xmlns:a16="http://schemas.microsoft.com/office/drawing/2014/main" val="2091638810"/>
                    </a:ext>
                  </a:extLst>
                </a:gridCol>
                <a:gridCol w="680720">
                  <a:extLst>
                    <a:ext uri="{9D8B030D-6E8A-4147-A177-3AD203B41FA5}">
                      <a16:colId xmlns:a16="http://schemas.microsoft.com/office/drawing/2014/main" val="3187033075"/>
                    </a:ext>
                  </a:extLst>
                </a:gridCol>
                <a:gridCol w="4513780">
                  <a:extLst>
                    <a:ext uri="{9D8B030D-6E8A-4147-A177-3AD203B41FA5}">
                      <a16:colId xmlns:a16="http://schemas.microsoft.com/office/drawing/2014/main" val="1383926084"/>
                    </a:ext>
                  </a:extLst>
                </a:gridCol>
                <a:gridCol w="3777315">
                  <a:extLst>
                    <a:ext uri="{9D8B030D-6E8A-4147-A177-3AD203B41FA5}">
                      <a16:colId xmlns:a16="http://schemas.microsoft.com/office/drawing/2014/main" val="592653468"/>
                    </a:ext>
                  </a:extLst>
                </a:gridCol>
              </a:tblGrid>
              <a:tr h="5563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스타일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난이도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유연성</a:t>
                      </a:r>
                      <a:endParaRPr lang="ko-KR" alt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장점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적합한 유스케이스</a:t>
                      </a:r>
                      <a:endParaRPr lang="ko-KR" altLang="en-US" sz="14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526082928"/>
                  </a:ext>
                </a:extLst>
              </a:tr>
              <a:tr h="83263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Sequential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시퀀셜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가장 직관적이고 단순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레이어를 차례대로 쌓기만 하면 됨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구조가 직관적이라 디버깅이 쉬움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선형적인 구조의 단순한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Single-input, single-output models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빠른 프로토타이핑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딥러닝 입문 및 교육용</a:t>
                      </a: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39324621"/>
                  </a:ext>
                </a:extLst>
              </a:tr>
              <a:tr h="11677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Functional API</a:t>
                      </a:r>
                      <a:b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함수형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</a:t>
                      </a: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가장 널리 쓰이는 표준 방식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레이어를 함수처럼 호출하여 앞뒤를 자유롭게 연결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입력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 완벽 지원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구조 시각화 및 재사용에 유리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/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비선형적인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구조의 복잡한 신경망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t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Multi-input, multi-output models</a:t>
                      </a:r>
                      <a:endParaRPr lang="en-US" altLang="ko-KR" sz="1400" b="1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defTabSz="914400" rtl="0" eaLnBrk="1" fontAlgn="t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실무에서 쓰이는 대부분의 복잡한 </a:t>
                      </a:r>
                      <a:r>
                        <a:rPr lang="ko-KR" altLang="en-US" sz="1400" u="none" strike="noStrike" kern="1200" dirty="0">
                          <a:solidFill>
                            <a:schemeClr val="dk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모델</a:t>
                      </a:r>
                      <a:endParaRPr lang="en-US" altLang="ko-KR" sz="1400" u="none" strike="noStrike" kern="1200" dirty="0">
                        <a:solidFill>
                          <a:schemeClr val="dk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다중 태스크 모델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분석 후 카테고리와 텍스트 동시 예측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잔차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연결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(Residual)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포함된 아키텍처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89451790"/>
                  </a:ext>
                </a:extLst>
              </a:tr>
              <a:tr h="887463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Subclassing API</a:t>
                      </a:r>
                      <a:b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</a:b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400" b="1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서브클래싱</a:t>
                      </a:r>
                      <a:r>
                        <a:rPr lang="ko-KR" altLang="en-US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방식</a:t>
                      </a:r>
                      <a:r>
                        <a:rPr lang="en-US" altLang="ko-KR" sz="1400" b="1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1" i="0" u="none" strike="noStrike" dirty="0">
                        <a:solidFill>
                          <a:srgbClr val="1A365D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  <a:r>
                        <a:rPr lang="en-US" altLang="ko-KR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b="0" i="0" u="none" strike="noStrike" dirty="0">
                          <a:solidFill>
                            <a:srgbClr val="2D3748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</a:t>
                      </a: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keras.Model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상속받아 파이썬 클래스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call()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메서드 내부에서 모든 제어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(if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문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for)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연산이나 동적인 모델 구조 정의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PyTorch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인공지능 연구원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(Researcher)</a:t>
                      </a: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논문에 새로 나온 독창적인 아키텍처 구현</a:t>
                      </a:r>
                      <a:endParaRPr lang="en-US" altLang="ko-KR" sz="1400" u="none" strike="noStrike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marL="171450" indent="-171450" algn="l" fontAlgn="t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동적 조건에 따라 제어 흐름이 바뀌는 모델</a:t>
                      </a:r>
                      <a:endParaRPr lang="ko-KR" altLang="en-US" sz="1400" b="0" i="0" u="none" strike="noStrike" dirty="0">
                        <a:solidFill>
                          <a:srgbClr val="2D3748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538" marR="2538" marT="2538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431536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2D1249-4095-8E32-2B79-AC20B34CF6FD}"/>
              </a:ext>
            </a:extLst>
          </p:cNvPr>
          <p:cNvSpPr txBox="1"/>
          <p:nvPr/>
        </p:nvSpPr>
        <p:spPr>
          <a:xfrm>
            <a:off x="548639" y="1243876"/>
            <a:ext cx="10972149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레고 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(Functional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짓다가 내가 원하는 특수한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없으면 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브릭만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3D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프린터로 직접 찍어서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(Subclassing API)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성벽 중간에 조립해도 완벽하게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맞아떨어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지도록 모델 유형을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Mix &amp; Match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3407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605F2-9C18-E013-582A-498F408F7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454672-1BAB-01F1-57C2-11F56A735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5003D4-1996-EEFE-8BE3-214989BD8F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FCNN Architecture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CA83F80-D5DA-0FBF-4240-B4CD76EC70CE}"/>
              </a:ext>
            </a:extLst>
          </p:cNvPr>
          <p:cNvSpPr/>
          <p:nvPr/>
        </p:nvSpPr>
        <p:spPr>
          <a:xfrm>
            <a:off x="1402753" y="2844800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82906F9-E5E4-84FF-8153-9AB5E29FC07E}"/>
              </a:ext>
            </a:extLst>
          </p:cNvPr>
          <p:cNvSpPr/>
          <p:nvPr/>
        </p:nvSpPr>
        <p:spPr>
          <a:xfrm>
            <a:off x="1442720" y="5425441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B9DC231-0434-9EB0-06B8-F842DD34D883}"/>
              </a:ext>
            </a:extLst>
          </p:cNvPr>
          <p:cNvSpPr/>
          <p:nvPr/>
        </p:nvSpPr>
        <p:spPr>
          <a:xfrm>
            <a:off x="4268470" y="2194561"/>
            <a:ext cx="488475" cy="394208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2877830-E07E-C929-4BB3-E2952E0AC881}"/>
              </a:ext>
            </a:extLst>
          </p:cNvPr>
          <p:cNvSpPr/>
          <p:nvPr/>
        </p:nvSpPr>
        <p:spPr>
          <a:xfrm>
            <a:off x="8889205" y="2194561"/>
            <a:ext cx="488475" cy="12327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6D88C569-ED61-835B-992F-0B3D357CF47E}"/>
              </a:ext>
            </a:extLst>
          </p:cNvPr>
          <p:cNvSpPr/>
          <p:nvPr/>
        </p:nvSpPr>
        <p:spPr>
          <a:xfrm>
            <a:off x="4415790" y="233680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EFFFE80F-3837-1A31-122B-2EBCA9A87739}"/>
              </a:ext>
            </a:extLst>
          </p:cNvPr>
          <p:cNvSpPr/>
          <p:nvPr/>
        </p:nvSpPr>
        <p:spPr>
          <a:xfrm>
            <a:off x="4415790" y="5863223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8CBCB36-E696-F2E4-17B0-8A5D90FEE7C9}"/>
              </a:ext>
            </a:extLst>
          </p:cNvPr>
          <p:cNvSpPr/>
          <p:nvPr/>
        </p:nvSpPr>
        <p:spPr>
          <a:xfrm>
            <a:off x="4415790" y="2609427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06A4A0EC-801F-475B-FC5B-8BB37781219E}"/>
              </a:ext>
            </a:extLst>
          </p:cNvPr>
          <p:cNvSpPr/>
          <p:nvPr/>
        </p:nvSpPr>
        <p:spPr>
          <a:xfrm>
            <a:off x="4415790" y="2882054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ECBF8B9-9EAE-40D1-B381-6469847DF8F9}"/>
              </a:ext>
            </a:extLst>
          </p:cNvPr>
          <p:cNvSpPr/>
          <p:nvPr/>
        </p:nvSpPr>
        <p:spPr>
          <a:xfrm>
            <a:off x="4415790" y="3154681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F1D6504-54EC-BE41-BDFA-85092D3E611B}"/>
              </a:ext>
            </a:extLst>
          </p:cNvPr>
          <p:cNvSpPr/>
          <p:nvPr/>
        </p:nvSpPr>
        <p:spPr>
          <a:xfrm>
            <a:off x="4415790" y="3427308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68297D93-4999-C1B4-856A-FF2F3FADAA67}"/>
              </a:ext>
            </a:extLst>
          </p:cNvPr>
          <p:cNvSpPr/>
          <p:nvPr/>
        </p:nvSpPr>
        <p:spPr>
          <a:xfrm>
            <a:off x="4415790" y="3699935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38BC522-D4F2-DE9E-6A35-B3672E80DF0D}"/>
              </a:ext>
            </a:extLst>
          </p:cNvPr>
          <p:cNvSpPr/>
          <p:nvPr/>
        </p:nvSpPr>
        <p:spPr>
          <a:xfrm>
            <a:off x="4415790" y="3972560"/>
            <a:ext cx="198120" cy="19812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E54CFAFD-58AF-87DF-ECED-58D21843EE62}"/>
              </a:ext>
            </a:extLst>
          </p:cNvPr>
          <p:cNvSpPr/>
          <p:nvPr/>
        </p:nvSpPr>
        <p:spPr>
          <a:xfrm>
            <a:off x="9027160" y="2280455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17EB039-51A8-E52F-2B7F-2BC4DD91482A}"/>
              </a:ext>
            </a:extLst>
          </p:cNvPr>
          <p:cNvSpPr/>
          <p:nvPr/>
        </p:nvSpPr>
        <p:spPr>
          <a:xfrm>
            <a:off x="9027160" y="2568787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69AF67FD-8BF6-5121-9BF1-E1C9330CC637}"/>
              </a:ext>
            </a:extLst>
          </p:cNvPr>
          <p:cNvSpPr/>
          <p:nvPr/>
        </p:nvSpPr>
        <p:spPr>
          <a:xfrm>
            <a:off x="9027160" y="3095414"/>
            <a:ext cx="198120" cy="19812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759407F-4DCF-CC44-3719-5726647CBAB5}"/>
              </a:ext>
            </a:extLst>
          </p:cNvPr>
          <p:cNvSpPr/>
          <p:nvPr/>
        </p:nvSpPr>
        <p:spPr>
          <a:xfrm>
            <a:off x="5982452" y="4328621"/>
            <a:ext cx="1132840" cy="1132840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CDF42377-6D0E-DBE5-C763-4BBDD680E1C0}"/>
              </a:ext>
            </a:extLst>
          </p:cNvPr>
          <p:cNvSpPr/>
          <p:nvPr/>
        </p:nvSpPr>
        <p:spPr>
          <a:xfrm>
            <a:off x="9947591" y="4328621"/>
            <a:ext cx="1132840" cy="1132840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/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B040E58-465D-2B52-F823-AEFEFD1F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472" y="4541699"/>
                <a:ext cx="1706399" cy="672172"/>
              </a:xfrm>
              <a:prstGeom prst="rect">
                <a:avLst/>
              </a:prstGeom>
              <a:blipFill>
                <a:blip r:embed="rId2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/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0E52007-6328-99A6-656E-AC620A409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303" y="4708508"/>
                <a:ext cx="1282281" cy="338554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B9549582-C890-5354-E54B-72E68751E4AE}"/>
              </a:ext>
            </a:extLst>
          </p:cNvPr>
          <p:cNvSpPr txBox="1"/>
          <p:nvPr/>
        </p:nvSpPr>
        <p:spPr>
          <a:xfrm>
            <a:off x="119340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  <a:endParaRPr lang="ko-KR" altLang="en-US" sz="14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A59847-AA9D-AE4A-9FC0-8B0F1D2FB8C9}"/>
              </a:ext>
            </a:extLst>
          </p:cNvPr>
          <p:cNvSpPr txBox="1"/>
          <p:nvPr/>
        </p:nvSpPr>
        <p:spPr>
          <a:xfrm>
            <a:off x="2290682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04238D-40FF-B7DE-46A3-A0C73B07F3AA}"/>
              </a:ext>
            </a:extLst>
          </p:cNvPr>
          <p:cNvSpPr/>
          <p:nvPr/>
        </p:nvSpPr>
        <p:spPr>
          <a:xfrm>
            <a:off x="6504180" y="3774726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Relu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5A20BE-B177-78AC-97ED-F2460DE6DFE2}"/>
              </a:ext>
            </a:extLst>
          </p:cNvPr>
          <p:cNvSpPr txBox="1"/>
          <p:nvPr/>
        </p:nvSpPr>
        <p:spPr>
          <a:xfrm>
            <a:off x="6667854" y="1728005"/>
            <a:ext cx="8948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  <a:endParaRPr lang="ko-KR" altLang="en-US" sz="1400" dirty="0"/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98F12EE-AC97-8C44-6A88-1E555F739D1A}"/>
              </a:ext>
            </a:extLst>
          </p:cNvPr>
          <p:cNvCxnSpPr>
            <a:stCxn id="24" idx="0"/>
            <a:endCxn id="24" idx="4"/>
          </p:cNvCxnSpPr>
          <p:nvPr/>
        </p:nvCxnSpPr>
        <p:spPr>
          <a:xfrm>
            <a:off x="6548872" y="4328621"/>
            <a:ext cx="0" cy="113284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4828ABBF-A0E8-A33F-DA5D-97CD482356C1}"/>
              </a:ext>
            </a:extLst>
          </p:cNvPr>
          <p:cNvSpPr txBox="1"/>
          <p:nvPr/>
        </p:nvSpPr>
        <p:spPr>
          <a:xfrm>
            <a:off x="3627118" y="1728005"/>
            <a:ext cx="204978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=64)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5EAD0-4525-F13A-9B0A-ECA6A7E730B0}"/>
              </a:ext>
            </a:extLst>
          </p:cNvPr>
          <p:cNvSpPr txBox="1"/>
          <p:nvPr/>
        </p:nvSpPr>
        <p:spPr>
          <a:xfrm>
            <a:off x="8273020" y="1728005"/>
            <a:ext cx="170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Layer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(Dense</a:t>
            </a:r>
            <a:r>
              <a:rPr lang="ko-KR" altLang="en-US" sz="14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=10)</a:t>
            </a:r>
            <a:endParaRPr lang="ko-KR" altLang="en-US" sz="14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11DC52-9D70-D10A-924F-D4AAE7E6FDF9}"/>
              </a:ext>
            </a:extLst>
          </p:cNvPr>
          <p:cNvSpPr/>
          <p:nvPr/>
        </p:nvSpPr>
        <p:spPr>
          <a:xfrm>
            <a:off x="5576686" y="3814329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4B423E7-6F3D-A02B-A0E0-7D13A8750AFA}"/>
              </a:ext>
            </a:extLst>
          </p:cNvPr>
          <p:cNvCxnSpPr>
            <a:cxnSpLocks/>
            <a:stCxn id="25" idx="0"/>
            <a:endCxn id="25" idx="4"/>
          </p:cNvCxnSpPr>
          <p:nvPr/>
        </p:nvCxnSpPr>
        <p:spPr>
          <a:xfrm>
            <a:off x="10514011" y="4328621"/>
            <a:ext cx="0" cy="113284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/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latinLnBrk="1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6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ko-KR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kumimoji="0" lang="en-US" altLang="ko-KR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ko-KR" sz="16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C4B07E5-8CC4-EA95-8160-3D6E55A02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2890" y="4541699"/>
                <a:ext cx="1706399" cy="672172"/>
              </a:xfrm>
              <a:prstGeom prst="rect">
                <a:avLst/>
              </a:prstGeom>
              <a:blipFill>
                <a:blip r:embed="rId4"/>
                <a:stretch>
                  <a:fillRect b="-9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/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</m:acc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altLang="ko-KR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ko-K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lang="ko-KR" altLang="en-US" sz="1600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FD9ED97-B32F-292F-B4E5-3EE92C758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5952" y="4705877"/>
                <a:ext cx="1282281" cy="351828"/>
              </a:xfrm>
              <a:prstGeom prst="rect">
                <a:avLst/>
              </a:prstGeom>
              <a:blipFill>
                <a:blip r:embed="rId5"/>
                <a:stretch>
                  <a:fillRect b="-517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직사각형 30">
            <a:extLst>
              <a:ext uri="{FF2B5EF4-FFF2-40B4-BE49-F238E27FC236}">
                <a16:creationId xmlns:a16="http://schemas.microsoft.com/office/drawing/2014/main" id="{4CE80BAE-9C39-7B5F-3033-26E33C692CBD}"/>
              </a:ext>
            </a:extLst>
          </p:cNvPr>
          <p:cNvSpPr/>
          <p:nvPr/>
        </p:nvSpPr>
        <p:spPr>
          <a:xfrm>
            <a:off x="10514011" y="3798194"/>
            <a:ext cx="1066164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1100" dirty="0" err="1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Softmax</a:t>
            </a: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1ACFA93-7D03-94BB-EA1D-FCE12074FF17}"/>
              </a:ext>
            </a:extLst>
          </p:cNvPr>
          <p:cNvSpPr/>
          <p:nvPr/>
        </p:nvSpPr>
        <p:spPr>
          <a:xfrm>
            <a:off x="9624469" y="3803293"/>
            <a:ext cx="953135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</a:t>
            </a:r>
          </a:p>
        </p:txBody>
      </p: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73F3AF5A-F092-B3AE-4DF9-CC3B8DF654BE}"/>
              </a:ext>
            </a:extLst>
          </p:cNvPr>
          <p:cNvCxnSpPr>
            <a:cxnSpLocks/>
            <a:stCxn id="12" idx="6"/>
            <a:endCxn id="8" idx="1"/>
          </p:cNvCxnSpPr>
          <p:nvPr/>
        </p:nvCxnSpPr>
        <p:spPr>
          <a:xfrm>
            <a:off x="4613910" y="2435860"/>
            <a:ext cx="962776" cy="1593913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A606EA95-A2E8-B736-2FDB-ECA9A6474740}"/>
              </a:ext>
            </a:extLst>
          </p:cNvPr>
          <p:cNvCxnSpPr>
            <a:cxnSpLocks/>
            <a:stCxn id="21" idx="6"/>
            <a:endCxn id="32" idx="0"/>
          </p:cNvCxnSpPr>
          <p:nvPr/>
        </p:nvCxnSpPr>
        <p:spPr>
          <a:xfrm>
            <a:off x="9225280" y="2379515"/>
            <a:ext cx="875757" cy="142377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타원 42">
            <a:extLst>
              <a:ext uri="{FF2B5EF4-FFF2-40B4-BE49-F238E27FC236}">
                <a16:creationId xmlns:a16="http://schemas.microsoft.com/office/drawing/2014/main" id="{0CAD048B-7251-1962-DB76-8BEBA1153903}"/>
              </a:ext>
            </a:extLst>
          </p:cNvPr>
          <p:cNvSpPr/>
          <p:nvPr/>
        </p:nvSpPr>
        <p:spPr>
          <a:xfrm>
            <a:off x="1402753" y="4245216"/>
            <a:ext cx="198120" cy="19812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098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11850-5D22-3010-D783-7AFECAD65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480BA0-D889-798C-9736-4E866309C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6576AED-7449-1093-E25D-02DC949DE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Sequential &amp; Functional API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9E5EA-3A29-AF20-E48F-7748D5997CE1}"/>
              </a:ext>
            </a:extLst>
          </p:cNvPr>
          <p:cNvSpPr txBox="1"/>
          <p:nvPr/>
        </p:nvSpPr>
        <p:spPr>
          <a:xfrm>
            <a:off x="1171574" y="2066370"/>
            <a:ext cx="9734551" cy="120398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model.add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(64,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model.add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3068ED-9BE3-50B9-4C8D-22E31BE93248}"/>
              </a:ext>
            </a:extLst>
          </p:cNvPr>
          <p:cNvSpPr txBox="1"/>
          <p:nvPr/>
        </p:nvSpPr>
        <p:spPr>
          <a:xfrm>
            <a:off x="1171574" y="4505421"/>
            <a:ext cx="9734550" cy="15318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(shape=(3,), name="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my_input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")(features)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outputs=outputs, name="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my_functional_model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DAC854-C3D5-1107-4870-FBDC850F27E0}"/>
              </a:ext>
            </a:extLst>
          </p:cNvPr>
          <p:cNvSpPr txBox="1"/>
          <p:nvPr/>
        </p:nvSpPr>
        <p:spPr>
          <a:xfrm>
            <a:off x="1171574" y="1702235"/>
            <a:ext cx="2286001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l"/>
            <a:r>
              <a:rPr lang="en-US" altLang="ko-KR" sz="1800" b="1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Sequential API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F4BAD4-E68D-B7C6-DFC3-8A348A302B2F}"/>
              </a:ext>
            </a:extLst>
          </p:cNvPr>
          <p:cNvSpPr txBox="1"/>
          <p:nvPr/>
        </p:nvSpPr>
        <p:spPr>
          <a:xfrm>
            <a:off x="1171574" y="4141286"/>
            <a:ext cx="2286001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l"/>
            <a:r>
              <a:rPr lang="en-US" altLang="ko-KR" sz="1800" b="1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Functional API</a:t>
            </a:r>
          </a:p>
        </p:txBody>
      </p:sp>
    </p:spTree>
    <p:extLst>
      <p:ext uri="{BB962C8B-B14F-4D97-AF65-F5344CB8AC3E}">
        <p14:creationId xmlns:p14="http://schemas.microsoft.com/office/powerpoint/2010/main" val="2680037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FC356-FBD2-E81A-AE71-C3ED95915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1C24E2-AC75-8A2E-66CB-CC1EF15F6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5A76447-D581-98E7-8FBA-60EA8140BE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Training a multi-input, multi-output model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05F890-3BDF-142E-E9AB-2BCBB1F65206}"/>
              </a:ext>
            </a:extLst>
          </p:cNvPr>
          <p:cNvSpPr txBox="1"/>
          <p:nvPr/>
        </p:nvSpPr>
        <p:spPr>
          <a:xfrm>
            <a:off x="571197" y="1383594"/>
            <a:ext cx="11087705" cy="470898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및 차원 크기 정의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  # 텍스트에 사용할 단어 사전 크기 (단어 종류 개수)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100      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멀티핫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인코딩된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태그의 종류 개수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num_departments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4     # 분류할 담당 부서 수 (클래스 개수)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다중 입력(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정의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티켓 제목 입력: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10000) 형태의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받음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가변적인 배치 크기)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 # 티켓 본문 입력: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10000) 형태의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받음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 # 티켓 태그 입력: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100) 형태의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받음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특성 결합(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Concatenate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및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처리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3개의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축으로 병합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10000 + 10000 + 100 = 20100)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layers.Concatenate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()([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병합된 입력 데이터로부터 주요 특징을 추출하는 완전 연결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(노드 64개,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활성화 함수)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(64,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dense_features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다중 출력(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정의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priority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priority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티켓 우선순위 점수 (0~1 사이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스칼라값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출력/이진 분류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department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num_departments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department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담당 부서 분류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/다중 분류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Functional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API 모델 최종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리스트와 출력(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리스트를 연결하여 하나의 그래프 구조 모델로 묶음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tags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priority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department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],)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모델 구조 출력 (입력 3개 -&gt; 병합 -&gt;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출력 2개 흐름 확인)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D4AD18-7AC6-3DC6-AC9C-FA3ACE62CD54}"/>
              </a:ext>
            </a:extLst>
          </p:cNvPr>
          <p:cNvSpPr txBox="1"/>
          <p:nvPr/>
        </p:nvSpPr>
        <p:spPr>
          <a:xfrm>
            <a:off x="8554720" y="82277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Functional API</a:t>
            </a:r>
          </a:p>
        </p:txBody>
      </p:sp>
    </p:spTree>
    <p:extLst>
      <p:ext uri="{BB962C8B-B14F-4D97-AF65-F5344CB8AC3E}">
        <p14:creationId xmlns:p14="http://schemas.microsoft.com/office/powerpoint/2010/main" val="1784997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E70B9-5654-A5B6-2611-8A8E13C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1B3FAF-0A59-B809-6001-123EE473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AA0A530-F655-859A-2D85-453B4F511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4396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Training a multi-input, multi-output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903609-6381-C120-0EA0-451E43FA442E}"/>
              </a:ext>
            </a:extLst>
          </p:cNvPr>
          <p:cNvSpPr txBox="1"/>
          <p:nvPr/>
        </p:nvSpPr>
        <p:spPr>
          <a:xfrm>
            <a:off x="8554720" y="82277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Functional API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4854A1D-15A3-B76F-3237-451998C01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679" y="2311204"/>
            <a:ext cx="4556365" cy="366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86A3EDEA-44E5-F84B-7F48-777ED5F28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3375" y="2311204"/>
            <a:ext cx="5782690" cy="3669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286AE1-FF3A-2650-C3F3-446BEDC64377}"/>
              </a:ext>
            </a:extLst>
          </p:cNvPr>
          <p:cNvSpPr txBox="1"/>
          <p:nvPr/>
        </p:nvSpPr>
        <p:spPr>
          <a:xfrm>
            <a:off x="2170431" y="1595147"/>
            <a:ext cx="726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power of the Functional API: Access to layer connectivity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387E84-F200-98AA-0280-5B68FF8CD9E0}"/>
              </a:ext>
            </a:extLst>
          </p:cNvPr>
          <p:cNvSpPr txBox="1"/>
          <p:nvPr/>
        </p:nvSpPr>
        <p:spPr>
          <a:xfrm>
            <a:off x="7383145" y="5933830"/>
            <a:ext cx="11715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8AE8B4-0F70-5532-8947-C10E97E66B23}"/>
              </a:ext>
            </a:extLst>
          </p:cNvPr>
          <p:cNvSpPr txBox="1"/>
          <p:nvPr/>
        </p:nvSpPr>
        <p:spPr>
          <a:xfrm>
            <a:off x="10172181" y="5911046"/>
            <a:ext cx="9339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01938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43848-41FB-B2FA-DB4F-AE56CD1EA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949B6C-C372-4F9A-9E49-A253934E5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02D0EB-6A55-FA1B-B2EE-054A46BA14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4396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Training a multi-input, multi-output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6B4481-8D4F-A3CE-82F5-89819ED56103}"/>
              </a:ext>
            </a:extLst>
          </p:cNvPr>
          <p:cNvSpPr txBox="1"/>
          <p:nvPr/>
        </p:nvSpPr>
        <p:spPr>
          <a:xfrm>
            <a:off x="8554720" y="82277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Functional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168822-2A75-796C-DF8D-0CAF0D3CD4C9}"/>
              </a:ext>
            </a:extLst>
          </p:cNvPr>
          <p:cNvSpPr txBox="1"/>
          <p:nvPr/>
        </p:nvSpPr>
        <p:spPr>
          <a:xfrm>
            <a:off x="600075" y="1248422"/>
            <a:ext cx="11002645" cy="102880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model.layers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[4].output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difficulty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 activation="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name="difficulty")(features)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new_model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(inputs=[title,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tags], outputs=[priority, department, difficulty])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C78783-FF25-70C9-81CA-B9E7AE619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8611" y="2683690"/>
            <a:ext cx="8763000" cy="3692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4211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9AF4-13C2-BB8C-7BFC-6CD15F491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D42AF9-ED60-E6F6-D796-22E5E2FB0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A1ECBA-5803-6C29-0C46-8A7E5A8D3E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Subclassing the Model class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2FAC77-18C0-9431-C235-BC9955FABC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6016" y="1502952"/>
            <a:ext cx="4661263" cy="431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731A8E-5190-C071-A6BC-CC43A33B7831}"/>
              </a:ext>
            </a:extLst>
          </p:cNvPr>
          <p:cNvSpPr txBox="1"/>
          <p:nvPr/>
        </p:nvSpPr>
        <p:spPr>
          <a:xfrm>
            <a:off x="609996" y="1468083"/>
            <a:ext cx="6524229" cy="460638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CustomerTicketModel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def __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__(self,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num_departments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super().__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self.concat_layer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layers.Concatenate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self.mixing_layer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(64, activation="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self.priority_scorer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self.department_classifier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num_departments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</a:t>
            </a: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def call(self, inputs):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title = inputs["title"]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inputs["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tags = inputs["tags"]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features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self.concat_layer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([title,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tags])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features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self.mixing_layer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(features)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priority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self.priority_scorer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(features)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department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self.department_classifier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(features)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return priority, department</a:t>
            </a:r>
          </a:p>
          <a:p>
            <a:pPr>
              <a:lnSpc>
                <a:spcPts val="1575"/>
              </a:lnSpc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CustomerTicketModel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num_departments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CC0487-B516-9566-D864-CD470E8418E2}"/>
              </a:ext>
            </a:extLst>
          </p:cNvPr>
          <p:cNvSpPr txBox="1"/>
          <p:nvPr/>
        </p:nvSpPr>
        <p:spPr>
          <a:xfrm>
            <a:off x="609996" y="6068477"/>
            <a:ext cx="9067405" cy="2975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priority, department = model({"title":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title_data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text_body_data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"tags":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tags_data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1289008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FB6A5-149E-4D67-21B7-028E2D81C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6BAFB7-E082-612A-CE0E-124CB8266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CF9D73-95B0-9103-6AEC-EF349B15D0D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Using built-in training and evaluation loops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57F850-C204-222C-9F07-18B9C6C222F4}"/>
              </a:ext>
            </a:extLst>
          </p:cNvPr>
          <p:cNvSpPr txBox="1"/>
          <p:nvPr/>
        </p:nvSpPr>
        <p:spPr>
          <a:xfrm>
            <a:off x="1466850" y="2244209"/>
            <a:ext cx="8219556" cy="246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Writing your own metrics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callbacks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EarlyStopping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ModelCheckpoint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callbacks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Writing your own callbacks</a:t>
            </a:r>
          </a:p>
        </p:txBody>
      </p:sp>
    </p:spTree>
    <p:extLst>
      <p:ext uri="{BB962C8B-B14F-4D97-AF65-F5344CB8AC3E}">
        <p14:creationId xmlns:p14="http://schemas.microsoft.com/office/powerpoint/2010/main" val="409095194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9301</TotalTime>
  <Words>1253</Words>
  <Application>Microsoft Office PowerPoint</Application>
  <PresentationFormat>와이드스크린</PresentationFormat>
  <Paragraphs>150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1" baseType="lpstr">
      <vt:lpstr>D2Coding</vt:lpstr>
      <vt:lpstr>NanumGothicExtraBold</vt:lpstr>
      <vt:lpstr>맑은 고딕</vt:lpstr>
      <vt:lpstr>Batang</vt:lpstr>
      <vt:lpstr>ADLaM Display</vt:lpstr>
      <vt:lpstr>Arial</vt:lpstr>
      <vt:lpstr>Cambria Math</vt:lpstr>
      <vt:lpstr>Lora</vt:lpstr>
      <vt:lpstr>Wingdings</vt:lpstr>
      <vt:lpstr>WelcomeDoc</vt:lpstr>
      <vt:lpstr>Chapter 7  A deep dive on Keras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152</cp:revision>
  <dcterms:created xsi:type="dcterms:W3CDTF">2026-04-06T01:00:39Z</dcterms:created>
  <dcterms:modified xsi:type="dcterms:W3CDTF">2026-08-03T06:27:54Z</dcterms:modified>
  <cp:version/>
</cp:coreProperties>
</file>