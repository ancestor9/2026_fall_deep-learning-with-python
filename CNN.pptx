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1094" r:id="rId3"/>
    <p:sldId id="978" r:id="rId4"/>
    <p:sldId id="1098" r:id="rId5"/>
    <p:sldId id="1099" r:id="rId6"/>
    <p:sldId id="1100" r:id="rId7"/>
    <p:sldId id="1101" r:id="rId8"/>
    <p:sldId id="1095" r:id="rId9"/>
    <p:sldId id="1096" r:id="rId10"/>
    <p:sldId id="1097" r:id="rId11"/>
    <p:sldId id="1102" r:id="rId12"/>
    <p:sldId id="1104" r:id="rId13"/>
    <p:sldId id="1105" r:id="rId14"/>
    <p:sldId id="1111" r:id="rId15"/>
    <p:sldId id="1103" r:id="rId16"/>
    <p:sldId id="1107" r:id="rId17"/>
    <p:sldId id="1106" r:id="rId18"/>
    <p:sldId id="1109" r:id="rId19"/>
    <p:sldId id="1110" r:id="rId2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978"/>
            <p14:sldId id="1098"/>
            <p14:sldId id="1099"/>
            <p14:sldId id="1100"/>
            <p14:sldId id="1101"/>
            <p14:sldId id="1095"/>
            <p14:sldId id="1096"/>
            <p14:sldId id="1097"/>
            <p14:sldId id="1102"/>
            <p14:sldId id="1104"/>
            <p14:sldId id="1105"/>
            <p14:sldId id="1111"/>
            <p14:sldId id="1103"/>
            <p14:sldId id="1107"/>
            <p14:sldId id="1106"/>
            <p14:sldId id="1109"/>
            <p14:sldId id="111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100" d="100"/>
          <a:sy n="100" d="100"/>
        </p:scale>
        <p:origin x="106" y="-7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De5BAsT2-Y?t=3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tensorspace.org/html/playground/lenet.html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pinecone.io/learn/series/image-search/cnn/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hyperlink" Target="https://github.com/ancestor9/2025_Winter_Deep-Learning-with-TensorFlow/tree/main/20260107_03_Image%20Classificati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watch?v=V9ZYDCnItr0&amp;t=76s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tensorspace.org/html/playground/alexne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Image Classification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2210395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CNN(convolutional neural networks, </a:t>
            </a:r>
            <a:r>
              <a:rPr lang="en-US" altLang="ko-KR" sz="2400" dirty="0" err="1">
                <a:solidFill>
                  <a:schemeClr val="bg1"/>
                </a:solidFill>
              </a:rPr>
              <a:t>ConvNets</a:t>
            </a:r>
            <a:r>
              <a:rPr lang="en-US" altLang="ko-KR" sz="2400" dirty="0">
                <a:solidFill>
                  <a:schemeClr val="bg1"/>
                </a:solidFill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C04B07-3781-FB4B-C4B6-15DCC177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90" y="1493819"/>
            <a:ext cx="9199721" cy="454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436E-AD26-A468-3DD1-936CDE57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63A47-EBF4-66BE-6CA3-D462E5AD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24BF91A-2317-B6DF-AF0D-C3CF326A6F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CDD7F5-5E7E-A439-0189-2DE625BE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15" y="1717450"/>
            <a:ext cx="7982459" cy="25587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8C7DD6-2189-B79E-911A-96DA7750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76" y="4228551"/>
            <a:ext cx="7936735" cy="191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4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6FEF-78EE-44A5-2AA8-B58C4EE7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6F614-D7E5-C32C-DBA3-8B4425D0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EBB8C4-EB3A-7146-BD71-9E5A3DCDAE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493024-8CAB-4316-C57C-3E230677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46" y="2428767"/>
            <a:ext cx="2598503" cy="279442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C10E04-853C-47EB-871D-F4BE3414E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481947"/>
              </p:ext>
            </p:extLst>
          </p:nvPr>
        </p:nvGraphicFramePr>
        <p:xfrm>
          <a:off x="4720662" y="1825844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8739568-9AF2-1CE4-75FB-91FB3C313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25685"/>
              </p:ext>
            </p:extLst>
          </p:nvPr>
        </p:nvGraphicFramePr>
        <p:xfrm>
          <a:off x="4720662" y="3537693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66EDAE3-4767-EED0-CBF5-AA17C0148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41551"/>
              </p:ext>
            </p:extLst>
          </p:nvPr>
        </p:nvGraphicFramePr>
        <p:xfrm>
          <a:off x="4720662" y="5249541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09FC970-6C0C-5210-5CF8-DF8A8688AA9F}"/>
              </a:ext>
            </a:extLst>
          </p:cNvPr>
          <p:cNvCxnSpPr/>
          <p:nvPr/>
        </p:nvCxnSpPr>
        <p:spPr>
          <a:xfrm>
            <a:off x="6448425" y="242876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D7FCB08B-66F4-87B4-F20A-1C1F228A17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1972671"/>
            <a:ext cx="1275596" cy="932453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FF9ECC-D489-D531-04CB-660570D27766}"/>
              </a:ext>
            </a:extLst>
          </p:cNvPr>
          <p:cNvCxnSpPr/>
          <p:nvPr/>
        </p:nvCxnSpPr>
        <p:spPr>
          <a:xfrm>
            <a:off x="6448425" y="4085469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D2C4F28-A8D7-E629-52F3-B22D35BF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3629373"/>
            <a:ext cx="1275596" cy="93245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6D93C3-BD31-7E72-215F-5FE172046051}"/>
              </a:ext>
            </a:extLst>
          </p:cNvPr>
          <p:cNvCxnSpPr/>
          <p:nvPr/>
        </p:nvCxnSpPr>
        <p:spPr>
          <a:xfrm>
            <a:off x="6448425" y="572441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C2480E6-96FC-6497-206C-4BFB17FE19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5268321"/>
            <a:ext cx="1275596" cy="9324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829464-9279-84EB-6813-6716E7DE07F4}"/>
              </a:ext>
            </a:extLst>
          </p:cNvPr>
          <p:cNvSpPr txBox="1"/>
          <p:nvPr/>
        </p:nvSpPr>
        <p:spPr>
          <a:xfrm>
            <a:off x="4558164" y="1446528"/>
            <a:ext cx="1890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Horizontal/Diagonal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C038D-B952-75DF-7487-E820508392FE}"/>
              </a:ext>
            </a:extLst>
          </p:cNvPr>
          <p:cNvSpPr txBox="1"/>
          <p:nvPr/>
        </p:nvSpPr>
        <p:spPr>
          <a:xfrm>
            <a:off x="4463200" y="31704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Vertical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957353-B9AF-67E0-FD62-F604366BA6B8}"/>
              </a:ext>
            </a:extLst>
          </p:cNvPr>
          <p:cNvSpPr txBox="1"/>
          <p:nvPr/>
        </p:nvSpPr>
        <p:spPr>
          <a:xfrm>
            <a:off x="4457111" y="48943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3822090-781C-26D4-44D4-D099E1A52510}"/>
              </a:ext>
            </a:extLst>
          </p:cNvPr>
          <p:cNvCxnSpPr/>
          <p:nvPr/>
        </p:nvCxnSpPr>
        <p:spPr>
          <a:xfrm>
            <a:off x="3818936" y="4075836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29216AF-ED58-F476-6F5F-2AE0673A1E56}"/>
              </a:ext>
            </a:extLst>
          </p:cNvPr>
          <p:cNvCxnSpPr>
            <a:cxnSpLocks/>
          </p:cNvCxnSpPr>
          <p:nvPr/>
        </p:nvCxnSpPr>
        <p:spPr>
          <a:xfrm>
            <a:off x="3742736" y="5495061"/>
            <a:ext cx="543514" cy="22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6498FB2-D6A6-1546-F077-2010C4599970}"/>
              </a:ext>
            </a:extLst>
          </p:cNvPr>
          <p:cNvCxnSpPr>
            <a:cxnSpLocks/>
          </p:cNvCxnSpPr>
          <p:nvPr/>
        </p:nvCxnSpPr>
        <p:spPr>
          <a:xfrm flipV="1">
            <a:off x="3818936" y="2428767"/>
            <a:ext cx="467314" cy="21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874F86C5-F736-36B6-94DA-A81A5A3E5C42}"/>
              </a:ext>
            </a:extLst>
          </p:cNvPr>
          <p:cNvSpPr/>
          <p:nvPr/>
        </p:nvSpPr>
        <p:spPr>
          <a:xfrm>
            <a:off x="9187330" y="2347791"/>
            <a:ext cx="2598503" cy="3141743"/>
          </a:xfrm>
          <a:prstGeom prst="rightArrow">
            <a:avLst>
              <a:gd name="adj1" fmla="val 73016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각각의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Kernel (Filter)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결과를 구한 후 모두 더하면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768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4758-D90C-D4C6-EB41-2CB55EAC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AE4BC-6ECA-D1AC-38AB-C93BACD3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CFAE41E-0C23-D25B-F5A3-DA67C87B820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D3A29D-2578-CF1A-0E4C-BF36B1AD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05" y="2219225"/>
            <a:ext cx="5822999" cy="33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6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433B-C0D4-0981-2B95-FD58775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EC314-7FED-69FA-5CBC-E48F1CF6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9DFE7A3-DBCC-EA3B-A967-4C786A77D9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5F4F4F-5BF8-05D7-4FEB-E31A73BE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1872291"/>
            <a:ext cx="9782693" cy="41639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30DB2E-4ED6-F150-9668-12DD706B081F}"/>
              </a:ext>
            </a:extLst>
          </p:cNvPr>
          <p:cNvSpPr txBox="1"/>
          <p:nvPr/>
        </p:nvSpPr>
        <p:spPr>
          <a:xfrm>
            <a:off x="835486" y="1502959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What is CNN?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480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EB1D-5085-AFC4-6F4A-DB427660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11C951-F23B-030B-42CD-686330B0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A1F8927-CE36-3EA4-0E56-63905BA37F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7ED0FE-C673-8670-DD6B-72F756A3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47" y="1468523"/>
            <a:ext cx="8313804" cy="502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34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B718-B2C5-F0AB-9840-E7CA385C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8BC45F-6F1B-D8CC-D6A1-D7B58965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15A284-89FC-2D1A-96C3-365A0E7B71D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6A5AC5-260A-25A4-1B81-77CB5B32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00" y="1902689"/>
            <a:ext cx="9000000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7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B736-7409-F14A-48A5-4808B970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DE165-9840-CCB8-9EAF-F6DB2D8A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67A0152-FFB9-F91B-A5A0-9CC626BCAE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F9730E-C40F-FDBD-D9DB-C8C74C36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675" y="1470193"/>
            <a:ext cx="4017492" cy="49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9480-18CF-B9A7-CCAF-349FDA51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7A2EA71-FBFE-0880-F545-5E313F25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6" y="1426419"/>
            <a:ext cx="8575192" cy="497496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1D34F-18C8-28AB-C0F1-93CE7D5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9144C6-22C4-6B31-706F-C163569EC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B1D0B-EF63-6FF1-0A87-488C8FD4BEFA}"/>
              </a:ext>
            </a:extLst>
          </p:cNvPr>
          <p:cNvSpPr txBox="1"/>
          <p:nvPr/>
        </p:nvSpPr>
        <p:spPr>
          <a:xfrm>
            <a:off x="5061355" y="4472286"/>
            <a:ext cx="5768052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D62138-00D1-EFBB-712E-D7834DDFEB3F}"/>
              </a:ext>
            </a:extLst>
          </p:cNvPr>
          <p:cNvSpPr/>
          <p:nvPr/>
        </p:nvSpPr>
        <p:spPr>
          <a:xfrm>
            <a:off x="568786" y="3981450"/>
            <a:ext cx="4003214" cy="2597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511E3F-A021-6230-AD76-2912813CF33B}"/>
              </a:ext>
            </a:extLst>
          </p:cNvPr>
          <p:cNvSpPr/>
          <p:nvPr/>
        </p:nvSpPr>
        <p:spPr>
          <a:xfrm>
            <a:off x="4572000" y="3567143"/>
            <a:ext cx="1149812" cy="395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1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BDC2-A382-4A4D-157D-EE18505D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CA468-3996-572D-81CB-6453D122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68A2A7A-D234-221B-8C55-A5C68FC94F7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E3F41B-E085-7A20-6E9B-106114ADA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13122"/>
              </p:ext>
            </p:extLst>
          </p:nvPr>
        </p:nvGraphicFramePr>
        <p:xfrm>
          <a:off x="741182" y="1723456"/>
          <a:ext cx="11013938" cy="4244156"/>
        </p:xfrm>
        <a:graphic>
          <a:graphicData uri="http://schemas.openxmlformats.org/drawingml/2006/table">
            <a:tbl>
              <a:tblPr/>
              <a:tblGrid>
                <a:gridCol w="565509">
                  <a:extLst>
                    <a:ext uri="{9D8B030D-6E8A-4147-A177-3AD203B41FA5}">
                      <a16:colId xmlns:a16="http://schemas.microsoft.com/office/drawing/2014/main" val="1466050574"/>
                    </a:ext>
                  </a:extLst>
                </a:gridCol>
                <a:gridCol w="1761629">
                  <a:extLst>
                    <a:ext uri="{9D8B030D-6E8A-4147-A177-3AD203B41FA5}">
                      <a16:colId xmlns:a16="http://schemas.microsoft.com/office/drawing/2014/main" val="14151940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88953976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47000943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352959133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2542550803"/>
                    </a:ext>
                  </a:extLst>
                </a:gridCol>
              </a:tblGrid>
              <a:tr h="29846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 이름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함수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형태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 형태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Output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가중치 초기화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Variance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Scaling)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역할 및 특징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553702"/>
                  </a:ext>
                </a:extLst>
              </a:tr>
              <a:tr h="3338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0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(</a:t>
                      </a: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세로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28, 1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채널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흑백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입력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80401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이미지의 기본 특징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면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92075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(2,2)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영역에서 가장 큰 값만 추출하여 이미지 크기를 절반으로 축소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161666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더 복잡하고 고차원적인 특징 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943306"/>
                  </a:ext>
                </a:extLst>
              </a:tr>
              <a:tr h="4751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크기를 다시 한번 절반으로 축소하여 핵심 특징만 압축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94793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Flatten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평탄화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 특징 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(4,4,16) = 4*4*16 = 256)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차원의 긴 벡터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줄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 펼침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45248"/>
                  </a:ext>
                </a:extLst>
              </a:tr>
              <a:tr h="54588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Dense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출력층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256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특징을 받아 최종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클래스에 대한 확률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Softmax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계산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99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2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6D9A-FA41-2C59-AE0E-CFB6CAB0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C0C2E-1D6D-FA5D-9781-729FE3AD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C8789F7-E6CE-8A13-8993-4DB80A7E30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5C2B3-6614-2911-5205-8AF7F278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8" y="2314205"/>
            <a:ext cx="7414903" cy="4061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D3D52-F5BF-4321-448A-4369B312C318}"/>
              </a:ext>
            </a:extLst>
          </p:cNvPr>
          <p:cNvSpPr txBox="1"/>
          <p:nvPr/>
        </p:nvSpPr>
        <p:spPr>
          <a:xfrm>
            <a:off x="558800" y="1340904"/>
            <a:ext cx="1093216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7BD27A-4D2C-F8D7-FB6E-09FF605403CA}"/>
              </a:ext>
            </a:extLst>
          </p:cNvPr>
          <p:cNvSpPr/>
          <p:nvPr/>
        </p:nvSpPr>
        <p:spPr>
          <a:xfrm>
            <a:off x="3738706" y="2666844"/>
            <a:ext cx="1818814" cy="1732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185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9BB7-974B-332B-B2D3-8F848B69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86036-67A2-7FAF-876B-EF23FFD7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FEC2FC1-D246-D6ED-7695-386F0C4FC4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A7F2C-B040-9181-C381-0EAF79249ED2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https://tensorspace.org/html/playground/lenet.html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F37AE7-162E-24C9-7A48-A38714B8D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11" y="1799944"/>
            <a:ext cx="4032690" cy="464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285C-0CA6-131F-A9B2-B3596C69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E04D-F73E-5763-E56E-89D4EE0C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F9E5AB-9B8D-5BDB-63A5-EF9B27F33F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4D554-22FD-A6D7-0602-1D7924A91F94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채널이 있는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컬러이미지에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대한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image-search/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cnn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이해하기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9A623C-EB2D-129A-153E-FF04C678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166" y="1978293"/>
            <a:ext cx="7538720" cy="424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3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8F77-6C0A-3904-FA33-71DB87EB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CD0C6-E48F-5171-D0C0-42352B76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F803ED0-69E8-6928-5E8A-D2CF16B945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901BE-AB7F-22C0-899D-4319238947C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https://github.com/ancestor9/Image Classification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교과수업 진행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898584-3848-4BB8-F2D9-0A00E8791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8" y="2612298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82832F4-B644-E38A-A3E9-D95C7FBA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612298"/>
            <a:ext cx="31837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A5B32-FCC9-8B3B-67E2-D75A02F17AE0}"/>
              </a:ext>
            </a:extLst>
          </p:cNvPr>
          <p:cNvSpPr txBox="1"/>
          <p:nvPr/>
        </p:nvSpPr>
        <p:spPr>
          <a:xfrm>
            <a:off x="1543050" y="2159141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single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11B06-493F-BCD7-F77B-C778CE2E4912}"/>
              </a:ext>
            </a:extLst>
          </p:cNvPr>
          <p:cNvSpPr txBox="1"/>
          <p:nvPr/>
        </p:nvSpPr>
        <p:spPr>
          <a:xfrm>
            <a:off x="6231792" y="2159141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41FE6-D0E5-C619-5DA7-ADF18731FA6E}"/>
              </a:ext>
            </a:extLst>
          </p:cNvPr>
          <p:cNvSpPr txBox="1"/>
          <p:nvPr/>
        </p:nvSpPr>
        <p:spPr>
          <a:xfrm>
            <a:off x="6231792" y="5808669"/>
            <a:ext cx="345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채널별로 동일한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Kernel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합성 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다시 합산하는 과정</a:t>
            </a:r>
          </a:p>
        </p:txBody>
      </p:sp>
    </p:spTree>
    <p:extLst>
      <p:ext uri="{BB962C8B-B14F-4D97-AF65-F5344CB8AC3E}">
        <p14:creationId xmlns:p14="http://schemas.microsoft.com/office/powerpoint/2010/main" val="1501493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5597-2E63-8680-97C9-8A0379C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265282-DEE6-0646-E27C-CAB0D336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86F3F87-E80C-B7E8-19A7-5F227D10B3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4A798-1EC4-0DBB-1C3A-3CF3FAAABB8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개념적이고 직관적으로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https://poloclub.github.io/cnn-explainer/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에서 이해하자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D1AA27-A75B-37EC-B74E-57B16DF7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41763"/>
            <a:ext cx="9553575" cy="41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41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DB1F-676C-0784-635D-DC8BC8B3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DA331-3E36-5837-C27C-09B919AF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2C22D0A-1313-B903-6F04-E982F4C62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F0B72-DDC7-18AA-B22F-73829F19987C}"/>
              </a:ext>
            </a:extLst>
          </p:cNvPr>
          <p:cNvSpPr txBox="1"/>
          <p:nvPr/>
        </p:nvSpPr>
        <p:spPr>
          <a:xfrm>
            <a:off x="644986" y="1236259"/>
            <a:ext cx="11012385" cy="1074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Kernel Size and Why Everyone Loves 3x3 - Neural Network 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이해하자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(8,6,6)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각 채널에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Kernel(3,3)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동일하게 적용하여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합산 값을 출력하는 것을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kernel)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tensor(8,4,4)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생성하는 과정을 이해하자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ECD689-EE52-C02C-F285-18FE07FE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86" y="2353214"/>
            <a:ext cx="6533557" cy="349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3C82CD-F634-E04D-08CC-C281BB8C06F5}"/>
              </a:ext>
            </a:extLst>
          </p:cNvPr>
          <p:cNvSpPr txBox="1"/>
          <p:nvPr/>
        </p:nvSpPr>
        <p:spPr>
          <a:xfrm>
            <a:off x="644986" y="2703734"/>
            <a:ext cx="4147994" cy="893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(8,3,3),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kernel(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색상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(8,4,4)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F0DC8-FCD6-0460-7E81-40F156D07A60}"/>
              </a:ext>
            </a:extLst>
          </p:cNvPr>
          <p:cNvSpPr txBox="1"/>
          <p:nvPr/>
        </p:nvSpPr>
        <p:spPr>
          <a:xfrm>
            <a:off x="591646" y="4909491"/>
            <a:ext cx="4201334" cy="89370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(20,4,4)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9CD3A76-F298-88C6-B9BA-F1D593B0FB72}"/>
              </a:ext>
            </a:extLst>
          </p:cNvPr>
          <p:cNvSpPr/>
          <p:nvPr/>
        </p:nvSpPr>
        <p:spPr>
          <a:xfrm>
            <a:off x="1657453" y="3859237"/>
            <a:ext cx="495300" cy="7696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A5A8A-B0F5-B4B1-8BA3-06BCBBF93A66}"/>
              </a:ext>
            </a:extLst>
          </p:cNvPr>
          <p:cNvSpPr txBox="1"/>
          <p:nvPr/>
        </p:nvSpPr>
        <p:spPr>
          <a:xfrm>
            <a:off x="2160373" y="3882097"/>
            <a:ext cx="2685947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만약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적용하면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고차원의 특징을 추출</a:t>
            </a:r>
          </a:p>
        </p:txBody>
      </p:sp>
    </p:spTree>
    <p:extLst>
      <p:ext uri="{BB962C8B-B14F-4D97-AF65-F5344CB8AC3E}">
        <p14:creationId xmlns:p14="http://schemas.microsoft.com/office/powerpoint/2010/main" val="37519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3301-AE56-CCC2-E058-B6282D92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CF469-4F35-2832-B86C-98FE6895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882B39C-9C81-C646-1138-B35886C437E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94596-39F6-615D-9013-605F03C9C1FC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https://tensorspace.org/html/playground/alexnet.html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84A6AC-36E5-6717-E624-829B1E3E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633" y="2002698"/>
            <a:ext cx="5132427" cy="389552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D5C0B1-50E1-7852-0909-A389784D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93" y="3079433"/>
            <a:ext cx="2162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2032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3000</TotalTime>
  <Words>621</Words>
  <Application>Microsoft Office PowerPoint</Application>
  <PresentationFormat>와이드스크린</PresentationFormat>
  <Paragraphs>151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D2Coding</vt:lpstr>
      <vt:lpstr>맑은 고딕</vt:lpstr>
      <vt:lpstr>맑은 고딕 Semilight</vt:lpstr>
      <vt:lpstr>Batang</vt:lpstr>
      <vt:lpstr>Arial</vt:lpstr>
      <vt:lpstr>Segoe UI Light</vt:lpstr>
      <vt:lpstr>Wingdings</vt:lpstr>
      <vt:lpstr>WelcomeDoc</vt:lpstr>
      <vt:lpstr>Image Classification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100</cp:revision>
  <dcterms:created xsi:type="dcterms:W3CDTF">2026-04-06T01:00:39Z</dcterms:created>
  <dcterms:modified xsi:type="dcterms:W3CDTF">2026-06-09T01:42:42Z</dcterms:modified>
  <cp:version/>
</cp:coreProperties>
</file>